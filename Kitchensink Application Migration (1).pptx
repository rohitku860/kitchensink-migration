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558936-0F70-494D-8619-07847921F888}">
  <a:tblStyle styleId="{42558936-0F70-494D-8619-07847921F8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Urbanist-regular.fntdata"/><Relationship Id="rId21" Type="http://schemas.openxmlformats.org/officeDocument/2006/relationships/slide" Target="slides/slide15.xml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15.png"/><Relationship Id="rId7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44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9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43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26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5" Type="http://schemas.openxmlformats.org/officeDocument/2006/relationships/image" Target="../media/image37.png"/><Relationship Id="rId6" Type="http://schemas.openxmlformats.org/officeDocument/2006/relationships/image" Target="../media/image4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40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34.png"/><Relationship Id="rId8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905148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MIGRATION STRATEGY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461319"/>
            <a:ext cx="11591448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Kitchensink Application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Complete Feature &amp; Technical Migration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221360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A comprehensive overview of the transition from Jakarta EE to Spring Boot, introducing enterprise-grade security, performance, and scalability.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0665"/>
            <a:ext cx="5334000" cy="4726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50665"/>
            <a:ext cx="5334000" cy="472633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2141190"/>
            <a:ext cx="478059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Application Purpose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2767905"/>
            <a:ext cx="45529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The Kitchensink application serves as a robust Member Registration and Management System. It provides a full-stack solution for registering members, validating data in real-time, and managing records through a secure REST API.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77025" y="2141190"/>
            <a:ext cx="478059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Technology Evolution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77025" y="2767905"/>
            <a:ext cx="45529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We have successfully executed a complete platform migration. Moving away from the legacy Jakarta EE 10 (JBoss EAP) stack with H2 database, the new system leverages the power of Spring Boot 3.5.7, MongoDB, and a reactive React frontend.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15071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15071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38100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Executive Summary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074390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90887"/>
            <a:ext cx="2095500" cy="1645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5950" y="3290887"/>
            <a:ext cx="2095500" cy="1645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40400" y="3290887"/>
            <a:ext cx="2095500" cy="1645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4851" y="3412777"/>
            <a:ext cx="2095500" cy="14019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/>
          <p:nvPr/>
        </p:nvSpPr>
        <p:spPr>
          <a:xfrm>
            <a:off x="952500" y="4113758"/>
            <a:ext cx="10287000" cy="1905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729138" y="3490912"/>
            <a:ext cx="178022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Legacy Phase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71525" y="3852862"/>
            <a:ext cx="1695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Jakarta EE 10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JSF &amp; JPA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H2 In-Memory DB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3713589" y="3490912"/>
            <a:ext cx="178022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Migration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3755975" y="3852862"/>
            <a:ext cx="1695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Architecture Shift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Relational to Document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Monolith to API-First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698039" y="3490912"/>
            <a:ext cx="178022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Modern Stack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740425" y="3852862"/>
            <a:ext cx="1695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Spring Boot 3.5.7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React 18 &amp; MongoDB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Enterprise Security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682489" y="3612802"/>
            <a:ext cx="178022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Future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724876" y="3974752"/>
            <a:ext cx="16954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Bulk Operations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Advanced Analytics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38100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Technical Journey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1074390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0665"/>
            <a:ext cx="3492549" cy="4726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750665"/>
            <a:ext cx="3492549" cy="4726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750665"/>
            <a:ext cx="3492549" cy="472633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1287571" y="2760315"/>
            <a:ext cx="206025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Complete CRUD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66775" y="338703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Expanded beyond simple creation. Now supports full Update and Delete operations with rigorous validation logic and existence checks.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190886" y="2760315"/>
            <a:ext cx="1810226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Search &amp; Filter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645074" y="338703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Implemented regex-based search functionality, allowing case-insensitive partial matching for member names directly via the API.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219217" y="2760315"/>
            <a:ext cx="131016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Pagination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423374" y="338703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Replaced "load all" with efficient Spring Data Pagination. Features configurable page sizes, sorting, and total count metadata.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0649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0649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699" y="206499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71500" y="38100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Functional Upgrades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71500" y="1074390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0665"/>
            <a:ext cx="5334000" cy="4726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50665"/>
            <a:ext cx="5334000" cy="472633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962025" y="2141190"/>
            <a:ext cx="478059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Legacy (Jakarta EE)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677025" y="2141190"/>
            <a:ext cx="478059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Migrated (Spring Boot)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15071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962025" y="2729805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Web: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JSF (Server-side rendering)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962025" y="3129855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Logic: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EJB (Enterprise JavaBeans)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962025" y="3529905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Data: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JPA/Hibernate Criteria API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62025" y="3929955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DB: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H2 (In-Memory, Volatile)</a:t>
            </a:r>
            <a:endParaRPr/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15071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6677025" y="2729805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Web: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React + Spring Boot REST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677025" y="3129855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Logic: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Spring Services + DTO Pattern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677025" y="3529905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Data: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Spring Data MongoDB Repository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677025" y="3929955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DB: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MongoDB (Document Store, Scalable)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278695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318700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358705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398710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77025" y="278695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77025" y="318700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77025" y="358705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77025" y="398710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571500" y="38100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Architecture Comparison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571500" y="1074390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0665"/>
            <a:ext cx="3492549" cy="4726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750665"/>
            <a:ext cx="3492549" cy="4726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750665"/>
            <a:ext cx="3492549" cy="472633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1532602" y="2760315"/>
            <a:ext cx="1570196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API Key Auth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66775" y="3387030"/>
            <a:ext cx="2901999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Custom ApiKeyAuthenticationFilter implementing a mandatory X-API-Key header for all state-changing operations, preventing unauthorized access.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5360908" y="2760315"/>
            <a:ext cx="147018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Sanitization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4645074" y="338703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Comprehensive input sanitization service using Apache Commons Text to prevent XSS attacks via HTML entity encoding and script removal.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9059197" y="2760315"/>
            <a:ext cx="163020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Rate Limiting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423374" y="338703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Implemented Bucket4j for IP-based rate limiting, protecting the API from DDoS attacks and ensuring fair resource distribution.</a:t>
            </a:r>
            <a:endParaRPr/>
          </a:p>
        </p:txBody>
      </p:sp>
      <p:pic>
        <p:nvPicPr>
          <p:cNvPr descr="image.png" id="185" name="Google Shape;18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0649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0649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699" y="206499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571500" y="38100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New Security Framework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571500" y="1074390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08758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571500" y="2404913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PII Protection Strategy</a:t>
            </a:r>
            <a:endParaRPr/>
          </a:p>
        </p:txBody>
      </p:sp>
      <p:pic>
        <p:nvPicPr>
          <p:cNvPr descr="image.png" id="197" name="Google Shape;19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218283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762000" y="2850653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AES-256 Encryption: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Used for sensitive fields like Email and Phone Numbers. Ensures data is unreadable if the database is compromised.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571500" y="2850653"/>
            <a:ext cx="19050" cy="9144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762000" y="3955553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Deterministic Hashing: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SHA-256 hashing is used for indexing. This allows O(1) uniqueness checks without decrypting the data.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571500" y="3955553"/>
            <a:ext cx="19050" cy="9144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762000" y="5060453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Key Management: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Supports versioned encryption keys with lazy re-encryption and zero-downtime rotation.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71500" y="5060453"/>
            <a:ext cx="19050" cy="609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571500" y="38100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Data Security Deep Dive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71500" y="1074390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/>
          <p:nvPr/>
        </p:nvSpPr>
        <p:spPr>
          <a:xfrm>
            <a:off x="571500" y="2145059"/>
            <a:ext cx="5381625" cy="1830585"/>
          </a:xfrm>
          <a:prstGeom prst="roundRect">
            <a:avLst>
              <a:gd fmla="val 6243" name="adj"/>
            </a:avLst>
          </a:prstGeom>
          <a:solidFill>
            <a:srgbClr val="1111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809625" y="2383184"/>
            <a:ext cx="4905375" cy="1354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Intelligent Caching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Implemented Caffeine cache for high-frequency read operations (e.g., member lookups), significantly reducing database load.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71500" y="2145059"/>
            <a:ext cx="38100" cy="183058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6238875" y="2145059"/>
            <a:ext cx="5381625" cy="1830585"/>
          </a:xfrm>
          <a:prstGeom prst="roundRect">
            <a:avLst>
              <a:gd fmla="val 6243" name="adj"/>
            </a:avLst>
          </a:prstGeom>
          <a:solidFill>
            <a:srgbClr val="1111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6477000" y="2383184"/>
            <a:ext cx="4905375" cy="1354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Async Audit Logging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Audit operations are offloaded to a dedicated thread pool using Spring's @Async, preventing I/O blocking on the main thread.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6238875" y="2145059"/>
            <a:ext cx="38100" cy="183058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571500" y="4261395"/>
            <a:ext cx="5381625" cy="1821060"/>
          </a:xfrm>
          <a:prstGeom prst="roundRect">
            <a:avLst>
              <a:gd fmla="val 6276" name="adj"/>
            </a:avLst>
          </a:prstGeom>
          <a:solidFill>
            <a:srgbClr val="1111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809625" y="4499520"/>
            <a:ext cx="4905375" cy="1344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Optimized Pagination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Spring Data Pageable ensures that only requested data chunks are transferred, optimizing memory usage and network bandwidth.</a:t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571500" y="4261395"/>
            <a:ext cx="38100" cy="182106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71500" y="38100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Performance &amp; Optimization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571500" y="1074390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0665"/>
            <a:ext cx="5334000" cy="4726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50665"/>
            <a:ext cx="5334000" cy="472633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962025" y="2141190"/>
            <a:ext cx="478059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From Relational (H2)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962025" y="2767905"/>
            <a:ext cx="4552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The legacy system relied on an in-memory relational model. This created tight coupling, required complex JOINs for future expansion, and offered no persistence across restarts (volatile storage).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677025" y="2141190"/>
            <a:ext cx="478059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To Document (MongoDB)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677025" y="2767905"/>
            <a:ext cx="4552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The migration to MongoDB 8.0 introduces a flexible document schema. This supports embedded fields for complex data, JSON schema validation for integrity, and horizontal scalability for future growth.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571500" y="38100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Database Strategy</a:t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571500" y="1074390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08758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571500" y="2014537"/>
            <a:ext cx="555069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Interactive Documentation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571500" y="249837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We introduced SpringDoc OpenAPI (Swagger) to replace manual documentation.</a:t>
            </a:r>
            <a:endParaRPr/>
          </a:p>
        </p:txBody>
      </p:sp>
      <p:pic>
        <p:nvPicPr>
          <p:cNvPr descr="image.png" id="243" name="Google Shape;24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18283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723900" y="362232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762000" y="3622327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Auto-Generated: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API docs stay in sync with code annotations.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723900" y="423192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762000" y="4231927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Try-It-Out: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Developers can test endpoints directly from the browser.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723900" y="484152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762000" y="4841527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Schema Visualization: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Clear visibility of Request/Response DTO structures.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723900" y="545112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762000" y="5451127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Monitoring: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Added Spring Boot Actuator for health checks and metrics.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571500" y="38100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Developer Experience (DevX)</a:t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571500" y="1074390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4508"/>
            <a:ext cx="11049000" cy="3238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0" name="Google Shape;260;p23"/>
          <p:cNvGraphicFramePr/>
          <p:nvPr/>
        </p:nvGraphicFramePr>
        <p:xfrm>
          <a:off x="581025" y="25040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{42558936-0F70-494D-8619-07847921F888}</a:tableStyleId>
              </a:tblPr>
              <a:tblGrid>
                <a:gridCol w="2928200"/>
                <a:gridCol w="3941850"/>
                <a:gridCol w="4159900"/>
              </a:tblGrid>
              <a:tr h="53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Legacy (Jakarta EE)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Modern (Spring Boot)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API Authentication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None</a:t>
                      </a:r>
                      <a:endParaRPr/>
                    </a:p>
                  </a:txBody>
                  <a:tcPr marT="25400" marB="25400" marR="63500" marL="22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API Key Header</a:t>
                      </a:r>
                      <a:endParaRPr/>
                    </a:p>
                  </a:txBody>
                  <a:tcPr marT="25400" marB="25400" marR="63500" marL="2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0A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Monitoring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Manual</a:t>
                      </a:r>
                      <a:endParaRPr/>
                    </a:p>
                  </a:txBody>
                  <a:tcPr marT="25400" marB="25400" marR="63500" marL="22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Actuator / Prometheus</a:t>
                      </a:r>
                      <a:endParaRPr/>
                    </a:p>
                  </a:txBody>
                  <a:tcPr marT="25400" marB="25400" marR="63500" marL="2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0A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PII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Plain Text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AES-256 Encrypted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0A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Rate Limiting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None</a:t>
                      </a:r>
                      <a:endParaRPr/>
                    </a:p>
                  </a:txBody>
                  <a:tcPr marT="25400" marB="25400" marR="63500" marL="22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Bucket4j (IP Based)</a:t>
                      </a:r>
                      <a:endParaRPr/>
                    </a:p>
                  </a:txBody>
                  <a:tcPr marT="25400" marB="25400" marR="63500" marL="2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0A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H2 (In-Memory)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MongoDB (Persistent)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261" name="Google Shape;261;p23"/>
          <p:cNvSpPr/>
          <p:nvPr/>
        </p:nvSpPr>
        <p:spPr>
          <a:xfrm>
            <a:off x="581025" y="3089820"/>
            <a:ext cx="292819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3509218" y="3089820"/>
            <a:ext cx="394186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7451080" y="3089820"/>
            <a:ext cx="415989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581025" y="3613695"/>
            <a:ext cx="292819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3509218" y="3613695"/>
            <a:ext cx="394186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7451080" y="3613695"/>
            <a:ext cx="415989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581025" y="4137570"/>
            <a:ext cx="292819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3509218" y="4137570"/>
            <a:ext cx="394186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7451080" y="4137570"/>
            <a:ext cx="415989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581025" y="4661445"/>
            <a:ext cx="292819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3509218" y="4661445"/>
            <a:ext cx="394186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7451080" y="4661445"/>
            <a:ext cx="415989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581025" y="5185320"/>
            <a:ext cx="292819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3509218" y="5185320"/>
            <a:ext cx="394186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7451080" y="5185320"/>
            <a:ext cx="415989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581025" y="5709195"/>
            <a:ext cx="292819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3509218" y="5709195"/>
            <a:ext cx="394186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7451080" y="5709195"/>
            <a:ext cx="415989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9" name="Google Shape;27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37818" y="3275558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79680" y="327555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37818" y="3799433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79680" y="3799433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37818" y="4847183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79680" y="4847183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/>
        </p:nvSpPr>
        <p:spPr>
          <a:xfrm>
            <a:off x="571500" y="38100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Legacy vs. Modern Comparison</a:t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571500" y="1074390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1" name="Google Shape;29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2566987" y="3256508"/>
            <a:ext cx="17145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DEFF9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4852987" y="3289845"/>
            <a:ext cx="47720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Requests Per Minute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4852987" y="3832770"/>
            <a:ext cx="47720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Our new Rate Limiting policy ensures stability by capping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requests per IP address, preventing abuse while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allowing normal usage flow.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571500" y="38100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Security Metrics</a:t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>
            <a:off x="571500" y="1074390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0665"/>
            <a:ext cx="3492549" cy="4726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750665"/>
            <a:ext cx="3492549" cy="4726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750665"/>
            <a:ext cx="3492549" cy="472633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5"/>
          <p:cNvSpPr txBox="1"/>
          <p:nvPr/>
        </p:nvSpPr>
        <p:spPr>
          <a:xfrm>
            <a:off x="1517600" y="2760315"/>
            <a:ext cx="16002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Security First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866775" y="3387030"/>
            <a:ext cx="2901999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Retrofitting security into a legacy monolith is complex. Implementing encryption, rate limiting, and input sanitization from day one in the new architecture proved far more effective and secure.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5060870" y="2760315"/>
            <a:ext cx="2070258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Stateless Design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4645074" y="3387030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The shift to REST required a fundamental mindset change. Treating every request as independent and ensuring robust stateless authentication was critical for true scalability.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8934182" y="2760315"/>
            <a:ext cx="188023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Data Paradigm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8423374" y="3387030"/>
            <a:ext cx="2901999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Moving from Relational to Document DB isn't just a data transfer; it's a structural evolution. Embedding data instead of joining tables simplified our object model and improved read performance.</a:t>
            </a:r>
            <a:endParaRPr/>
          </a:p>
        </p:txBody>
      </p:sp>
      <p:pic>
        <p:nvPicPr>
          <p:cNvPr descr="image.png" id="311" name="Google Shape;31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0649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06499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4274" y="206499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5"/>
          <p:cNvSpPr txBox="1"/>
          <p:nvPr/>
        </p:nvSpPr>
        <p:spPr>
          <a:xfrm>
            <a:off x="571500" y="38100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Lessons Learned</a:t>
            </a:r>
            <a:endParaRPr/>
          </a:p>
        </p:txBody>
      </p:sp>
      <p:sp>
        <p:nvSpPr>
          <p:cNvPr id="315" name="Google Shape;315;p25"/>
          <p:cNvSpPr/>
          <p:nvPr/>
        </p:nvSpPr>
        <p:spPr>
          <a:xfrm>
            <a:off x="571500" y="1074390"/>
            <a:ext cx="11049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0" name="Google Shape;32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6"/>
          <p:cNvSpPr txBox="1"/>
          <p:nvPr/>
        </p:nvSpPr>
        <p:spPr>
          <a:xfrm>
            <a:off x="571500" y="571500"/>
            <a:ext cx="5550693" cy="51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Future Roadmap</a:t>
            </a:r>
            <a:endParaRPr/>
          </a:p>
        </p:txBody>
      </p:sp>
      <p:sp>
        <p:nvSpPr>
          <p:cNvPr id="322" name="Google Shape;322;p26"/>
          <p:cNvSpPr/>
          <p:nvPr/>
        </p:nvSpPr>
        <p:spPr>
          <a:xfrm>
            <a:off x="571500" y="1264890"/>
            <a:ext cx="52863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3" name="Google Shape;32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6"/>
          <p:cNvSpPr txBox="1"/>
          <p:nvPr/>
        </p:nvSpPr>
        <p:spPr>
          <a:xfrm>
            <a:off x="571500" y="264214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With the foundational migration complete, we are poised to implement advanced features: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723900" y="368989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26" name="Google Shape;326;p26"/>
          <p:cNvSpPr txBox="1"/>
          <p:nvPr/>
        </p:nvSpPr>
        <p:spPr>
          <a:xfrm>
            <a:off x="762000" y="3689895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Bulk Operations: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CSV Import/Export capabilities.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723900" y="413757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762000" y="4137570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Advanced Search: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Multi-criteria filtering.</a:t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723900" y="458524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762000" y="4585245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Notification System: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Async email alerts.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723900" y="503292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762000" y="5032920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Analytics: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Member statistics dashboard.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7"/>
          <p:cNvSpPr txBox="1"/>
          <p:nvPr/>
        </p:nvSpPr>
        <p:spPr>
          <a:xfrm>
            <a:off x="474344" y="1927919"/>
            <a:ext cx="408051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Q&amp;A</a:t>
            </a:r>
            <a:endParaRPr/>
          </a:p>
        </p:txBody>
      </p:sp>
      <p:sp>
        <p:nvSpPr>
          <p:cNvPr id="339" name="Google Shape;339;p27"/>
          <p:cNvSpPr txBox="1"/>
          <p:nvPr/>
        </p:nvSpPr>
        <p:spPr>
          <a:xfrm>
            <a:off x="571500" y="3375719"/>
            <a:ext cx="38862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/>
          </a:p>
        </p:txBody>
      </p:sp>
      <p:sp>
        <p:nvSpPr>
          <p:cNvPr id="340" name="Google Shape;340;p27"/>
          <p:cNvSpPr txBox="1"/>
          <p:nvPr/>
        </p:nvSpPr>
        <p:spPr>
          <a:xfrm>
            <a:off x="571500" y="4434780"/>
            <a:ext cx="388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Kitchensink Migration 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