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Kitchensink User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Objective</a:t>
            </a:r>
          </a:p>
          <a:p>
            <a:pPr>
              <a:spcAft>
                <a:spcPts val="1200"/>
              </a:spcAft>
              <a:defRPr sz="2000"/>
            </a:pPr>
            <a:r>
              <a:t>• Migrate Jakarta EE application to Spring Boot with MongoDB</a:t>
            </a:r>
          </a:p>
          <a:p>
            <a:pPr>
              <a:spcAft>
                <a:spcPts val="1200"/>
              </a:spcAft>
              <a:defRPr sz="2000"/>
            </a:pPr>
            <a:r>
              <a:t>• Build modern REST API with comprehensive security features</a:t>
            </a:r>
          </a:p>
          <a:p>
            <a:pPr>
              <a:spcAft>
                <a:spcPts val="1200"/>
              </a:spcAft>
              <a:defRPr sz="2000"/>
            </a:pPr>
            <a:r>
              <a:t>• Implement user management system with OTP-based authentication</a:t>
            </a:r>
          </a:p>
          <a:p>
            <a:pPr>
              <a:spcAft>
                <a:spcPts val="1200"/>
              </a:spcAft>
              <a:defRPr sz="2000"/>
            </a:pPr>
            <a:r>
              <a:t>• Add enterprise-grade features: caching, rate limiting, audit logging</a:t>
            </a:r>
          </a:p>
          <a:p>
            <a:pPr>
              <a:defRPr sz="2000"/>
            </a:pPr>
            <a:r>
              <a:t>• Create React frontend for seamless user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Features vs Added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Features (Migrated from EJB)</a:t>
            </a:r>
          </a:p>
          <a:p>
            <a:pPr lvl="1"/>
            <a:r>
              <a:t>• Create Member (POST)</a:t>
            </a:r>
          </a:p>
          <a:p>
            <a:pPr lvl="1"/>
            <a:r>
              <a:t>• Get All Members (GET)</a:t>
            </a:r>
          </a:p>
          <a:p>
            <a:pPr lvl="1"/>
            <a:r>
              <a:t>• Get Member by ID (GET)</a:t>
            </a:r>
          </a:p>
          <a:p>
            <a:pPr lvl="1"/>
            <a:r>
              <a:t>• View members ordered by name</a:t>
            </a:r>
          </a:p>
          <a:p>
            <a:pPr>
              <a:spcBef>
                <a:spcPts val="1200"/>
              </a:spcBef>
            </a:pPr>
            <a:r>
              <a:t>New Features Added</a:t>
            </a:r>
          </a:p>
          <a:p>
            <a:pPr lvl="1"/>
            <a:r>
              <a:t>• Update Member (PUT) &amp; Delete Member (DELETE)</a:t>
            </a:r>
          </a:p>
          <a:p>
            <a:pPr lvl="1"/>
            <a:r>
              <a:t>• Search by name (fuzzy search) &amp; Filter by email domain</a:t>
            </a:r>
          </a:p>
          <a:p>
            <a:pPr lvl="1"/>
            <a:r>
              <a:t>• OTP-based authentication &amp; JWT token management</a:t>
            </a:r>
          </a:p>
          <a:p>
            <a:pPr lvl="1"/>
            <a:r>
              <a:t>• Cursor-based pagination &amp; Role-based access control</a:t>
            </a:r>
          </a:p>
          <a:p>
            <a:pPr lvl="1"/>
            <a:r>
              <a:t>• Update request workflow (approve/reject)</a:t>
            </a:r>
          </a:p>
          <a:p>
            <a:pPr lvl="1"/>
            <a:r>
              <a:t>• PII encryption, Audit logging, Rate limiting, Caching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</a:t>
            </a:r>
          </a:p>
          <a:p>
            <a:pPr lvl="1"/>
            <a:r>
              <a:t>• Spring Boot 3.5.7, Java 21, Maven</a:t>
            </a:r>
          </a:p>
          <a:p>
            <a:pPr lvl="1"/>
            <a:r>
              <a:t>• MongoDB 8.0+ (NoSQL Database)</a:t>
            </a:r>
          </a:p>
          <a:p>
            <a:pPr lvl="1"/>
            <a:r>
              <a:t>• Spring Security + JWT (Authentication)</a:t>
            </a:r>
          </a:p>
          <a:p>
            <a:pPr lvl="1"/>
            <a:r>
              <a:t>• Caffeine Cache, Jasypt (Encryption)</a:t>
            </a:r>
          </a:p>
          <a:p>
            <a:pPr lvl="1"/>
            <a:r>
              <a:t>• Spring Actuator (Health Checks)</a:t>
            </a:r>
          </a:p>
          <a:p>
            <a:pPr lvl="1"/>
            <a:r>
              <a:t>• Swagger/OpenAPI (Documentation)</a:t>
            </a:r>
          </a:p>
          <a:p>
            <a:pPr>
              <a:spcBef>
                <a:spcPts val="1200"/>
              </a:spcBef>
            </a:pPr>
            <a:r>
              <a:t>Frontend</a:t>
            </a:r>
          </a:p>
          <a:p>
            <a:pPr lvl="1"/>
            <a:r>
              <a:t>• React 18, Axios, React Router DOM</a:t>
            </a:r>
          </a:p>
          <a:p>
            <a:pPr>
              <a:spcBef>
                <a:spcPts val="1200"/>
              </a:spcBef>
            </a:pPr>
            <a:r>
              <a:t>Infrastructure</a:t>
            </a:r>
          </a:p>
          <a:p>
            <a:pPr lvl="1"/>
            <a:r>
              <a:t>• MongoDB Collections, SMTP Email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Caching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Caffeine Cache - In-Memory Caching</a:t>
            </a:r>
          </a:p>
          <a:p>
            <a:pPr lvl="1"/>
            <a:r>
              <a:t>• Three cache instances configured:</a:t>
            </a:r>
          </a:p>
          <a:p>
            <a:pPr lvl="2"/>
            <a:r>
              <a:t>  - userById: 500 entries, 3min write TTL, 1min access TTL</a:t>
            </a:r>
          </a:p>
          <a:p>
            <a:pPr lvl="2"/>
            <a:r>
              <a:t>  - roleById: 50 entries, 15min write TTL, 5min access TTL</a:t>
            </a:r>
          </a:p>
          <a:p>
            <a:pPr lvl="2"/>
            <a:r>
              <a:t>  - roleNameByUserId: 500 entries, 3min write TTL</a:t>
            </a:r>
          </a:p>
          <a:p>
            <a:pPr lvl="1"/>
            <a:r>
              <a:t>• @Cacheable annotation on service methods</a:t>
            </a:r>
          </a:p>
          <a:p>
            <a:pPr lvl="1"/>
            <a:r>
              <a:t>• Automatic cache eviction based on TTL</a:t>
            </a:r>
          </a:p>
          <a:p>
            <a:pPr lvl="1"/>
            <a:r>
              <a:t>• Cache statistics enabled for monitoring</a:t>
            </a:r>
          </a:p>
          <a:p>
            <a:pPr lvl="1"/>
            <a:r>
              <a:t>• Reduces database queries for frequently accessed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Check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Spring Boot Actuator</a:t>
            </a:r>
          </a:p>
          <a:p>
            <a:pPr lvl="1"/>
            <a:r>
              <a:t>• Exposed endpoints: health, info, metrics, prometheus</a:t>
            </a:r>
          </a:p>
          <a:p>
            <a:pPr lvl="1"/>
            <a:r>
              <a:t>• Health endpoint: /actuator/health</a:t>
            </a:r>
          </a:p>
          <a:p>
            <a:pPr lvl="1"/>
            <a:r>
              <a:t>• MongoDB health check enabled</a:t>
            </a:r>
          </a:p>
          <a:p>
            <a:pPr lvl="1"/>
            <a:r>
              <a:t>• Detailed health info (when authorized)</a:t>
            </a:r>
          </a:p>
          <a:p>
            <a:pPr lvl="1"/>
            <a:r>
              <a:t>• Prometheus metrics for monitoring</a:t>
            </a:r>
          </a:p>
          <a:p>
            <a:pPr lvl="1"/>
            <a:r>
              <a:t>• Application info: name, version, Java version</a:t>
            </a:r>
          </a:p>
          <a:p>
            <a:pPr lvl="1"/>
            <a:r>
              <a:t>• Ready for integration with monitoring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Multi-Layer Security</a:t>
            </a:r>
          </a:p>
          <a:p>
            <a:pPr lvl="1"/>
            <a:r>
              <a:t>JWT Authentication:</a:t>
            </a:r>
          </a:p>
          <a:p>
            <a:pPr lvl="2"/>
            <a:r>
              <a:t>  - Stateless token-based auth, 24hr expiration</a:t>
            </a:r>
          </a:p>
          <a:p>
            <a:pPr lvl="2"/>
            <a:r>
              <a:t>  - Role-based access (ADMIN, USER)</a:t>
            </a:r>
          </a:p>
          <a:p>
            <a:pPr lvl="2"/>
            <a:r>
              <a:t>  - Method-level security with @PreAuthorize</a:t>
            </a:r>
          </a:p>
          <a:p>
            <a:pPr lvl="1"/>
            <a:r>
              <a:t>API Key Authentication:</a:t>
            </a:r>
          </a:p>
          <a:p>
            <a:pPr lvl="2"/>
            <a:r>
              <a:t>  - X-API-Key header validation</a:t>
            </a:r>
          </a:p>
          <a:p>
            <a:pPr lvl="2"/>
            <a:r>
              <a:t>  - Configurable via environment variables</a:t>
            </a:r>
          </a:p>
          <a:p>
            <a:pPr lvl="2"/>
            <a:r>
              <a:t>  - Public endpoints excluded (actuator, swagger)</a:t>
            </a:r>
          </a:p>
          <a:p>
            <a:pPr lvl="1"/>
            <a:r>
              <a:t>CORS Protection:</a:t>
            </a:r>
          </a:p>
          <a:p>
            <a:pPr lvl="2"/>
            <a:r>
              <a:t>  - Whitelist-based origin validation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Rate Limiter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 Throttling</a:t>
            </a:r>
          </a:p>
          <a:p>
            <a:pPr lvl="1"/>
            <a:r>
              <a:t>• RateLimitFilter - IP-based rate limiting</a:t>
            </a:r>
          </a:p>
          <a:p>
            <a:pPr lvl="1"/>
            <a:r>
              <a:t>• Default: 60 requests per minute per IP</a:t>
            </a:r>
          </a:p>
          <a:p>
            <a:pPr lvl="1"/>
            <a:r>
              <a:t>• Sliding window algorithm with ConcurrentHashMap</a:t>
            </a:r>
          </a:p>
          <a:p>
            <a:pPr lvl="1"/>
            <a:r>
              <a:t>• Automatic window reset after 1 minute</a:t>
            </a:r>
          </a:p>
          <a:p>
            <a:pPr lvl="1"/>
            <a:r>
              <a:t>• Returns HTTP 429 (Too Many Requests) when exceeded</a:t>
            </a:r>
          </a:p>
          <a:p>
            <a:pPr lvl="1"/>
            <a:r>
              <a:t>• Excludes: actuator, swagger, api-docs endpoints</a:t>
            </a:r>
          </a:p>
          <a:p>
            <a:pPr>
              <a:spcBef>
                <a:spcPts val="1200"/>
              </a:spcBef>
            </a:pPr>
            <a:r>
              <a:t>OTP Rate Limiting:</a:t>
            </a:r>
          </a:p>
          <a:p>
            <a:pPr lvl="1"/>
            <a:r>
              <a:t>• 1000 attempts per 15 minutes per email</a:t>
            </a:r>
          </a:p>
          <a:p>
            <a:pPr lvl="1"/>
            <a:r>
              <a:t>• Prevents OTP abuse and brute force attacks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Pagination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Cursor-Based Pagination</a:t>
            </a:r>
          </a:p>
          <a:p>
            <a:pPr lvl="1"/>
            <a:r>
              <a:t>• CursorPageResponse with next/previous cursors</a:t>
            </a:r>
          </a:p>
          <a:p>
            <a:pPr lvl="1"/>
            <a:r>
              <a:t>• Supports forward (next) and backward (previous) navigation</a:t>
            </a:r>
          </a:p>
          <a:p>
            <a:pPr lvl="1"/>
            <a:r>
              <a:t>• Sort by ID (default) or name</a:t>
            </a:r>
          </a:p>
          <a:p>
            <a:pPr lvl="1"/>
            <a:r>
              <a:t>• Fetches size+1 records to determine hasNext/hasPrevious</a:t>
            </a:r>
          </a:p>
          <a:p>
            <a:pPr lvl="1"/>
            <a:r>
              <a:t>• Efficient for large datasets (no offset calculation)</a:t>
            </a:r>
          </a:p>
          <a:p>
            <a:pPr lvl="1"/>
            <a:r>
              <a:t>• Backward compatible with page-based pagination</a:t>
            </a:r>
          </a:p>
          <a:p>
            <a:pPr lvl="1"/>
            <a:r>
              <a:t>• Max page size: 100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 Logging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Change Tracking</a:t>
            </a:r>
          </a:p>
          <a:p>
            <a:pPr lvl="1"/>
            <a:r>
              <a:t>• UserMongoEventListener - Automatic audit on User changes</a:t>
            </a:r>
          </a:p>
          <a:p>
            <a:pPr lvl="1"/>
            <a:r>
              <a:t>• Tracks CREATE, UPDATE, DELETE operations</a:t>
            </a:r>
          </a:p>
          <a:p>
            <a:pPr lvl="1"/>
            <a:r>
              <a:t>• Field-level change tracking (old vs new values)</a:t>
            </a:r>
          </a:p>
          <a:p>
            <a:pPr lvl="1"/>
            <a:r>
              <a:t>• Captures metadata: timestamp, IP address, correlation ID</a:t>
            </a:r>
          </a:p>
          <a:p>
            <a:pPr lvl="1"/>
            <a:r>
              <a:t>• Stores in audit_logs MongoDB collection</a:t>
            </a:r>
          </a:p>
          <a:p>
            <a:pPr lvl="1"/>
            <a:r>
              <a:t>• ThreadLocal for tracking old state before updates</a:t>
            </a:r>
          </a:p>
          <a:p>
            <a:pPr lvl="1"/>
            <a:r>
              <a:t>• Non-blocking async logging for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PII Encryption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Jasypt Encryption Service</a:t>
            </a:r>
          </a:p>
          <a:p>
            <a:pPr lvl="1"/>
            <a:r>
              <a:t>• PBEWITHHMACSHA512ANDAES_256 algorithm</a:t>
            </a:r>
          </a:p>
          <a:p>
            <a:pPr lvl="1"/>
            <a:r>
              <a:t>• Encrypts: email, phone numbers (PII data)</a:t>
            </a:r>
          </a:p>
          <a:p>
            <a:pPr lvl="1"/>
            <a:r>
              <a:t>• Key versioning support (v1:encryptedData format)</a:t>
            </a:r>
          </a:p>
          <a:p>
            <a:pPr lvl="1"/>
            <a:r>
              <a:t>• Legacy key support for key rotation</a:t>
            </a:r>
          </a:p>
          <a:p>
            <a:pPr lvl="1"/>
            <a:r>
              <a:t>• Automatic decryption on read operations</a:t>
            </a:r>
          </a:p>
          <a:p>
            <a:pPr lvl="1"/>
            <a:r>
              <a:t>• Random salt and IV generation for each encryption</a:t>
            </a:r>
          </a:p>
          <a:p>
            <a:pPr lvl="1"/>
            <a:r>
              <a:t>• Configurable via environment variables</a:t>
            </a:r>
          </a:p>
          <a:p>
            <a:pPr lvl="1"/>
            <a:r>
              <a:t>• OTP values hashed (SHA-256) before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Sanitization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XSS Prevention</a:t>
            </a:r>
          </a:p>
          <a:p>
            <a:pPr lvl="1"/>
            <a:r>
              <a:t>• InputSanitizationService using Apache Commons Text</a:t>
            </a:r>
          </a:p>
          <a:p>
            <a:pPr lvl="1"/>
            <a:r>
              <a:t>• Escapes HTML/XML special characters</a:t>
            </a:r>
          </a:p>
          <a:p>
            <a:pPr lvl="1"/>
            <a:r>
              <a:t>• Sanitizes user input before database storage</a:t>
            </a:r>
          </a:p>
          <a:p>
            <a:pPr lvl="1"/>
            <a:r>
              <a:t>• Prevents script injection attacks</a:t>
            </a:r>
          </a:p>
          <a:p>
            <a:pPr lvl="1"/>
            <a:r>
              <a:t>• Applied to all user-provided text fields</a:t>
            </a:r>
          </a:p>
          <a:p>
            <a:pPr lvl="1"/>
            <a:r>
              <a:t>• Works in conjunction with Spring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&amp; OTP Service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OTP-Based Authentication</a:t>
            </a:r>
          </a:p>
          <a:p>
            <a:pPr lvl="1"/>
            <a:r>
              <a:t>OTP Service:</a:t>
            </a:r>
          </a:p>
          <a:p>
            <a:pPr lvl="2"/>
            <a:r>
              <a:t>  - 6-digit numeric OTP generation</a:t>
            </a:r>
          </a:p>
          <a:p>
            <a:pPr lvl="2"/>
            <a:r>
              <a:t>  - 10-minute expiration</a:t>
            </a:r>
          </a:p>
          <a:p>
            <a:pPr lvl="2"/>
            <a:r>
              <a:t>  - SHA-256 hashing before storage</a:t>
            </a:r>
          </a:p>
          <a:p>
            <a:pPr lvl="2"/>
            <a:r>
              <a:t>  - Rate limiting: 1000 attempts/15min</a:t>
            </a:r>
          </a:p>
          <a:p>
            <a:pPr>
              <a:spcBef>
                <a:spcPts val="1200"/>
              </a:spcBef>
            </a:pPr>
            <a:r>
              <a:t>Email Service:</a:t>
            </a:r>
          </a:p>
          <a:p>
            <a:pPr lvl="1"/>
            <a:r>
              <a:t>  - Spring Mail with SMTP (Gmail)</a:t>
            </a:r>
          </a:p>
          <a:p>
            <a:pPr lvl="1"/>
            <a:r>
              <a:t>  - Sends OTP codes for login/email change</a:t>
            </a:r>
          </a:p>
          <a:p>
            <a:pPr lvl="1"/>
            <a:r>
              <a:t>  - Update request notifications (admin/user)</a:t>
            </a:r>
          </a:p>
          <a:p>
            <a:pPr lvl="1"/>
            <a:r>
              <a:t>  - Async email 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Request Flow (Detailed diagram available in archDiag5.pdf):</a:t>
            </a:r>
          </a:p>
          <a:p>
            <a:pPr>
              <a:spcAft>
                <a:spcPts val="500"/>
              </a:spcAft>
              <a:defRPr sz="1500"/>
            </a:pPr>
            <a:r>
              <a:t>1. HTTP Request → CORS Filter → Correlation ID Filter</a:t>
            </a:r>
          </a:p>
          <a:p>
            <a:pPr>
              <a:spcAft>
                <a:spcPts val="500"/>
              </a:spcAft>
              <a:defRPr sz="1500"/>
            </a:pPr>
            <a:r>
              <a:t>2. Rate Limit Filter → Request Logging Filter</a:t>
            </a:r>
          </a:p>
          <a:p>
            <a:pPr>
              <a:spcAft>
                <a:spcPts val="500"/>
              </a:spcAft>
              <a:defRPr sz="1500"/>
            </a:pPr>
            <a:r>
              <a:t>3. JWT/API Key Authentication Filter</a:t>
            </a:r>
          </a:p>
          <a:p>
            <a:pPr>
              <a:spcAft>
                <a:spcPts val="500"/>
              </a:spcAft>
              <a:defRPr sz="1500"/>
            </a:pPr>
            <a:r>
              <a:t>4. Controllers (Auth/Profile/Admin) → Service Layer</a:t>
            </a:r>
          </a:p>
          <a:p>
            <a:pPr>
              <a:spcAft>
                <a:spcPts val="500"/>
              </a:spcAft>
              <a:defRPr sz="1500"/>
            </a:pPr>
            <a:r>
              <a:t>5. Cache Check (Caffeine) → Repository Layer</a:t>
            </a:r>
          </a:p>
          <a:p>
            <a:pPr>
              <a:spcAft>
                <a:spcPts val="500"/>
              </a:spcAft>
              <a:defRPr sz="1500"/>
            </a:pPr>
            <a:r>
              <a:t>6. MongoDB (users, roles, otps, audit_logs collections)</a:t>
            </a:r>
          </a:p>
          <a:p>
            <a:pPr>
              <a:spcAft>
                <a:spcPts val="800"/>
              </a:spcAft>
              <a:defRPr sz="1500"/>
            </a:pPr>
            <a:r>
              <a:t>7. Event Listeners → Audit Service → Response</a:t>
            </a:r>
          </a:p>
          <a:p>
            <a:pPr>
              <a:spcAft>
                <a:spcPts val="500"/>
              </a:spcAft>
              <a:defRPr sz="1300" i="1"/>
            </a:pPr>
            <a:r>
              <a:t>Layers: Security → Controller → Service → Repository → Database</a:t>
            </a:r>
          </a:p>
          <a:p>
            <a:pPr>
              <a:defRPr sz="1300" i="1"/>
            </a:pPr>
            <a:r>
              <a:t>Key Features: PII Encryption, Input Sanitization, Email Service, Async Processing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Horizontal &amp; Vertical Scaling Strategies</a:t>
            </a:r>
          </a:p>
          <a:p>
            <a:pPr lvl="1"/>
            <a:r>
              <a:t>Application Layer:</a:t>
            </a:r>
          </a:p>
          <a:p>
            <a:pPr lvl="2"/>
            <a:r>
              <a:t>  - Stateless JWT enables horizontal scaling</a:t>
            </a:r>
          </a:p>
          <a:p>
            <a:pPr lvl="2"/>
            <a:r>
              <a:t>  - Load balancer for multiple instances</a:t>
            </a:r>
          </a:p>
          <a:p>
            <a:pPr lvl="2"/>
            <a:r>
              <a:t>  - Async processing for non-critical operations</a:t>
            </a:r>
          </a:p>
          <a:p>
            <a:pPr>
              <a:spcBef>
                <a:spcPts val="1200"/>
              </a:spcBef>
            </a:pPr>
            <a:r>
              <a:t>Database Layer:</a:t>
            </a:r>
          </a:p>
          <a:p>
            <a:pPr lvl="1"/>
            <a:r>
              <a:t>  - MongoDB sharding for large datasets</a:t>
            </a:r>
          </a:p>
          <a:p>
            <a:pPr lvl="1"/>
            <a:r>
              <a:t>  - Replica sets for high availability</a:t>
            </a:r>
          </a:p>
          <a:p>
            <a:pPr lvl="1"/>
            <a:r>
              <a:t>  - Index optimization for query performance</a:t>
            </a:r>
          </a:p>
          <a:p>
            <a:pPr>
              <a:spcBef>
                <a:spcPts val="1200"/>
              </a:spcBef>
            </a:pPr>
            <a:r>
              <a:t>Caching Layer:</a:t>
            </a:r>
          </a:p>
          <a:p>
            <a:pPr lvl="1"/>
            <a:r>
              <a:t>  - Redis for distributed caching (replace Caffeine)</a:t>
            </a:r>
          </a:p>
          <a:p>
            <a:pPr lvl="1"/>
            <a:r>
              <a:t>  - Cache warming strategies</a:t>
            </a:r>
          </a:p>
          <a:p>
            <a:pPr>
              <a:spcBef>
                <a:spcPts val="1200"/>
              </a:spcBef>
            </a:pPr>
            <a:r>
              <a:t>Rate Limiting:</a:t>
            </a:r>
          </a:p>
          <a:p>
            <a:pPr lvl="1"/>
            <a:r>
              <a:t>  - Distributed rate limiting (Redis-based)</a:t>
            </a:r>
          </a:p>
          <a:p>
            <a:pPr lvl="1"/>
            <a:r>
              <a:t>  - API Gateway for centralized rate limiting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&amp; Architectural Insights</a:t>
            </a:r>
          </a:p>
          <a:p>
            <a:pPr lvl="1"/>
            <a:r>
              <a:t>• Migration from Jakarta EE to Spring Boot ecosystem</a:t>
            </a:r>
          </a:p>
          <a:p>
            <a:pPr lvl="1"/>
            <a:r>
              <a:t>• MongoDB event listeners for automatic audit logging</a:t>
            </a:r>
          </a:p>
          <a:p>
            <a:pPr lvl="1"/>
            <a:r>
              <a:t>• Cursor-based pagination vs offset-based pagination</a:t>
            </a:r>
          </a:p>
          <a:p>
            <a:pPr lvl="1"/>
            <a:r>
              <a:t>• Multi-layer security: JWT + API Key + CORS</a:t>
            </a:r>
          </a:p>
          <a:p>
            <a:pPr lvl="1"/>
            <a:r>
              <a:t>• PII encryption with key versioning for rotation</a:t>
            </a:r>
          </a:p>
          <a:p>
            <a:pPr lvl="1"/>
            <a:r>
              <a:t>• Rate limiting strategies for API protection</a:t>
            </a:r>
          </a:p>
          <a:p>
            <a:pPr lvl="1"/>
            <a:r>
              <a:t>• Caching strategies for performance optimization</a:t>
            </a:r>
          </a:p>
          <a:p>
            <a:pPr lvl="1"/>
            <a:r>
              <a:t>• OTP-based authentication without password storage</a:t>
            </a:r>
          </a:p>
          <a:p>
            <a:pPr lvl="1"/>
            <a:r>
              <a:t>• Update request workflow for data integrity</a:t>
            </a:r>
          </a:p>
          <a:p>
            <a:pPr lvl="1"/>
            <a:r>
              <a:t>• React frontend integration with Spring Boot REST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